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  <p:sldId id="261" r:id="rId10"/>
    <p:sldId id="268" r:id="rId11"/>
    <p:sldId id="262" r:id="rId12"/>
    <p:sldId id="272" r:id="rId13"/>
    <p:sldId id="266" r:id="rId14"/>
    <p:sldId id="273" r:id="rId15"/>
    <p:sldId id="269" r:id="rId16"/>
    <p:sldId id="274" r:id="rId17"/>
    <p:sldId id="270" r:id="rId18"/>
    <p:sldId id="275" r:id="rId19"/>
    <p:sldId id="271" r:id="rId20"/>
    <p:sldId id="27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6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843280" y="2092325"/>
            <a:ext cx="10506075" cy="1472565"/>
          </a:xfrm>
        </p:spPr>
        <p:txBody>
          <a:bodyPr/>
          <a:p>
            <a:pPr lvl="0"/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Multi-Agent Generative AI Platform for Multi-Morbidity Conflict Resolution and Medication–Diet Interaction Verification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reeform 10"/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11"/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29"/>
          <p:cNvSpPr/>
          <p:nvPr/>
        </p:nvSpPr>
        <p:spPr>
          <a:xfrm>
            <a:off x="3957511" y="1625936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 Box 5"/>
          <p:cNvSpPr txBox="1"/>
          <p:nvPr/>
        </p:nvSpPr>
        <p:spPr>
          <a:xfrm>
            <a:off x="1198880" y="4419600"/>
            <a:ext cx="2693670" cy="1343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4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by:</a:t>
            </a:r>
            <a:endParaRPr lang="en-IN" altLang="en-US" sz="2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 Nithisha J</a:t>
            </a:r>
            <a:endParaRPr lang="en-IN" altLang="en-US" sz="24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499985" y="4419600"/>
            <a:ext cx="4807585" cy="2068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</a:t>
            </a:r>
            <a:endParaRPr lang="en-US" sz="24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65125" lvl="1">
              <a:lnSpc>
                <a:spcPct val="100000"/>
              </a:lnSpc>
              <a:spcBef>
                <a:spcPts val="550"/>
              </a:spcBef>
            </a:pPr>
            <a:r>
              <a:rPr lang="en-IN" altLang="en-US" sz="20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N.Goutham(192472024)</a:t>
            </a:r>
            <a:br>
              <a:rPr lang="en-IN" altLang="en-US" sz="20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N.Chaitanya Ram</a:t>
            </a:r>
            <a:r>
              <a:rPr lang="en-IN" sz="2000">
                <a:latin typeface="Times New Roman" panose="02020603050405020304"/>
                <a:ea typeface="Times New Roman" panose="02020603050405020304"/>
                <a:sym typeface="+mn-ea"/>
              </a:rPr>
              <a:t>(</a:t>
            </a: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192472172</a:t>
            </a:r>
            <a:r>
              <a:rPr lang="en-IN" sz="2000" b="0">
                <a:latin typeface="Times New Roman" panose="02020603050405020304"/>
                <a:ea typeface="Times New Roman" panose="02020603050405020304"/>
              </a:rPr>
              <a:t>)</a:t>
            </a:r>
            <a:endParaRPr sz="2000" b="0">
              <a:latin typeface="Times New Roman" panose="02020603050405020304"/>
              <a:ea typeface="Times New Roman" panose="02020603050405020304"/>
            </a:endParaRPr>
          </a:p>
          <a:p>
            <a:pPr marL="365125" lvl="1">
              <a:lnSpc>
                <a:spcPct val="100000"/>
              </a:lnSpc>
              <a:spcBef>
                <a:spcPts val="550"/>
              </a:spcBef>
            </a:pP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M.Mohamed Bazith</a:t>
            </a:r>
            <a:r>
              <a:rPr lang="en-IN" sz="2000">
                <a:latin typeface="Times New Roman" panose="02020603050405020304"/>
                <a:ea typeface="Times New Roman" panose="02020603050405020304"/>
                <a:sym typeface="+mn-ea"/>
              </a:rPr>
              <a:t>(</a:t>
            </a: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192472052</a:t>
            </a:r>
            <a:r>
              <a:rPr lang="en-IN" sz="2000">
                <a:latin typeface="Times New Roman" panose="02020603050405020304"/>
                <a:ea typeface="Times New Roman" panose="02020603050405020304"/>
                <a:sym typeface="+mn-ea"/>
              </a:rPr>
              <a:t>)</a:t>
            </a:r>
            <a:endParaRPr sz="2000" b="0">
              <a:latin typeface="Times New Roman" panose="02020603050405020304"/>
              <a:ea typeface="Times New Roman" panose="02020603050405020304"/>
            </a:endParaRPr>
          </a:p>
          <a:p>
            <a:pPr marL="365125" lvl="1">
              <a:lnSpc>
                <a:spcPct val="100000"/>
              </a:lnSpc>
              <a:spcBef>
                <a:spcPts val="550"/>
              </a:spcBef>
            </a:pP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Hemanth</a:t>
            </a:r>
            <a:r>
              <a:rPr lang="en-IN" sz="2000">
                <a:latin typeface="Times New Roman" panose="02020603050405020304"/>
                <a:ea typeface="Times New Roman" panose="02020603050405020304"/>
                <a:sym typeface="+mn-ea"/>
              </a:rPr>
              <a:t>(</a:t>
            </a:r>
            <a:r>
              <a:rPr sz="2000">
                <a:latin typeface="Times New Roman" panose="02020603050405020304"/>
                <a:ea typeface="Times New Roman" panose="02020603050405020304"/>
                <a:sym typeface="+mn-ea"/>
              </a:rPr>
              <a:t>192472285</a:t>
            </a:r>
            <a:r>
              <a:rPr lang="en-IN" sz="2000">
                <a:latin typeface="Times New Roman" panose="02020603050405020304"/>
                <a:ea typeface="Times New Roman" panose="02020603050405020304"/>
                <a:sym typeface="+mn-ea"/>
              </a:rPr>
              <a:t>)</a:t>
            </a:r>
            <a:endParaRPr sz="2000" b="0">
              <a:latin typeface="Times New Roman" panose="02020603050405020304"/>
              <a:ea typeface="Times New Roman" panose="02020603050405020304"/>
            </a:endParaRPr>
          </a:p>
          <a:p>
            <a:pPr marL="365125" lvl="1">
              <a:lnSpc>
                <a:spcPct val="100000"/>
              </a:lnSpc>
              <a:spcBef>
                <a:spcPts val="550"/>
              </a:spcBef>
            </a:pPr>
            <a:endParaRPr sz="2000" b="0">
              <a:latin typeface="Times New Roman" panose="02020603050405020304"/>
              <a:ea typeface="Times New Roman" panose="02020603050405020304"/>
            </a:endParaRPr>
          </a:p>
          <a:p>
            <a:pPr marL="365125" lvl="1">
              <a:lnSpc>
                <a:spcPct val="100000"/>
              </a:lnSpc>
              <a:spcBef>
                <a:spcPts val="550"/>
              </a:spcBef>
            </a:pPr>
            <a:br>
              <a:rPr lang="en-US" sz="2000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000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146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65151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altLang="en-US" sz="315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INTRODUCTION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71500" y="1246188"/>
            <a:ext cx="7124700" cy="567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Multi-morbidity patients require coordinated healthcare management</a:t>
            </a:r>
            <a:r>
              <a:rPr kumimoji="0" lang="en-I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system.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Multiple medications increase the risk of harmful interactions</a:t>
            </a:r>
            <a:r>
              <a:rPr kumimoji="0" lang="en-I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conflicts.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Diabetes, hypertension, and kidney disease require different medications simultaneously.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Manual verification is slow, causing side effects and reduced treatment effectiveness.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Multi-Agent AI analyzes diseases, medications, and diet, while Generative AI provides personalized healthcare recommendations and reports.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biomedinformatics-05-00037-g0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810" y="2142490"/>
            <a:ext cx="4356735" cy="3292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65151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altLang="en-US" sz="315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PROBLEM STATEMENT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71500" y="1819593"/>
            <a:ext cx="10803255" cy="3646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Patients commonly experience multiple chronic diseases requiring simultaneous treatments.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Different prescriptions frequently create dangerous medication interaction conflicts unintentionally.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Medication and dietary incompatibilities remain unnoticed during routine treatments.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Existing healthcare platforms lack integrated intelligent conflict detection capabilities.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Manual verification increases workload while reducing healthcare decision efficiency.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Personalized dietary guidance remains unavailable for most chronic disease patients.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altLang="en-US" sz="315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EXISTING SYSTEM</a:t>
            </a:r>
            <a:endParaRPr lang="en-IN" altLang="en-US" sz="315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2945" y="1612900"/>
            <a:ext cx="1091692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Doctors manually verify medications using separate healthcare reference resources.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Drug interaction checking requires significant clinical experience and expertise.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Nutrition </a:t>
            </a: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recommendations remain independent from medication verification procedures.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Existing systems provide limited personalized healthcare decision support services.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Healthcare professionals spend excessive time analyzing multiple medical records.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Traditional platforms rarely integrate intelligent AI healthcare recommendations effectively.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altLang="en-US" sz="3150" b="1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PROPOSED SYSTEM</a:t>
            </a:r>
            <a:endParaRPr lang="en-IN" altLang="en-US" sz="3150" b="1" dirty="0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155" y="1713865"/>
            <a:ext cx="10424160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Develop intelligent Multi-Agent AI healthcare decision support platform completely.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Collect comprehensive patient medical and medication information securely stored.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Analyze multiple diseases using specialized collaborative intelligent AI agents.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Detect medication conflicts using trusted healthcare knowledge databases accurately.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 personalized nutrition recommendations based on patient medical conditions.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Produce comprehensive AI-powered healthcare reports supporting clinical decision making.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altLang="en-US" sz="315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O</a:t>
            </a:r>
            <a:r>
              <a:rPr lang="en-US" altLang="en-IN" sz="315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BJECTIVES</a:t>
            </a:r>
            <a:endParaRPr lang="en-US" altLang="en-IN" sz="315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08025" y="1696403"/>
            <a:ext cx="11048365" cy="31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Detect conflicts among multiple chronic diseases accurately and efficiently.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Verify drug interactions using trusted medical knowledge databases automatically.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Identify medication and dietary compatibility for improved patient safety.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Generate personalized meal recommendations based on individual medical conditions.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Assist healthcare professionals through intelligent AI decision support systems.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Improve treatment quality while reducing adverse healthcare interaction risks.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15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SYSTEM ARCHITECTURE</a:t>
            </a:r>
            <a:endParaRPr lang="en-IN" sz="315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 descr="ChatGPT Image Aug 3, 2026, 10_55_56 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635" y="1315720"/>
            <a:ext cx="8439785" cy="54432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75705" y="21050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77165" y="31496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1 : </a:t>
            </a:r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Patient Health Profile &amp; Disease Management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ctr"/>
            <a:r>
              <a:rPr lang="en-IN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 </a:t>
            </a:r>
            <a:endParaRPr lang="en-IN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2752" y="1629122"/>
            <a:ext cx="10590276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Register patients using secure authentication and profile management system.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Collect patient demographics including age, gender, height, and weight.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Record medical history, allergies, and lifestyle information securely.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Store multiple chronic diseases with complete patient health records.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Maintain centralized healthcare database for future medical analysis.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Create comprehensive patient profile supporting intelligent AI healthcare decisions.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75705" y="21050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77165" y="31496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1 : </a:t>
            </a:r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Patient Health Profile &amp; Disease Management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ctr"/>
            <a:r>
              <a:rPr lang="en-IN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 </a:t>
            </a:r>
            <a:endParaRPr lang="en-IN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0" y="1547495"/>
            <a:ext cx="10871200" cy="48723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14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15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2 : </a:t>
            </a:r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Multi-Agent Conflict Detection 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/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Medication Verificatio</a:t>
            </a:r>
            <a:r>
              <a:rPr lang="en-IN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ctr"/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862" y="1677382"/>
            <a:ext cx="10590276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Analyze prescribed medications using specialized intelligent healthcare AI agents.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Verify medicine dosage using trusted pharmaceutical reference databases accurately.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Detect harmful drug–drug interactions affecting patient treatment safety.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Identify drug–disease conflicts based on patient health conditions.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 medication safety alerts with interaction severity classification levels.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Recommend safer medication alternatives supporting improved clinical decision making.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14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15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2 : </a:t>
            </a:r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Multi-Agent Conflict Detection 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/>
            <a:r>
              <a:rPr lang="en-US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Medication Verificatio</a:t>
            </a:r>
            <a:r>
              <a:rPr lang="en-IN" altLang="en-US" sz="3000" b="1" dirty="0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ctr"/>
            <a:endParaRPr lang="en-US" altLang="en-US" sz="3000" b="1" dirty="0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Merriweather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10" y="1732915"/>
            <a:ext cx="10918190" cy="488759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3 : </a:t>
            </a: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Medication–Diet Interaction Verification 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/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Personalized Nutrition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862" y="1444337"/>
            <a:ext cx="10590276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Analyze dietary habits based on medications and medical conditions.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Detect harmful medication–food interactions using trusted nutrition databases.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Recommend personalized diet plans supporting healthier patient recovery outcomes.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Suggest suitable food alternatives based on individual health conditions.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 balanced meal schedules matching prescribed medications and diseases.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Improve treatment effectiveness through intelligent nutrition recommendations and guidance.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3 : </a:t>
            </a: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Medication–Diet Interaction Verification 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/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Personalized Nutrition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35" y="1632585"/>
            <a:ext cx="10590530" cy="475551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4 : </a:t>
            </a: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 Decision Support, Report Generation 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Healthcare Dashboard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550" y="1780540"/>
            <a:ext cx="1131824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Integrate outputs from multiple intelligent healthcare AI agents seamlessly.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 comprehensive healthcare summaries using Generative AI technology effectively.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Display medication alerts through interactive healthcare dashboard visualization panels.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Present personalized diet recommendations with patient health improvement suggestions.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 downloadable healthcare reports supporting informed clinical decision making.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Monitor patient health status through real-time dashboard updates continuously.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186690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Merriweather"/>
              </a:rPr>
              <a:t>Module 4 : </a:t>
            </a: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 Decision Support, Report Generation 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Healthcare Dashboard</a:t>
            </a:r>
            <a:endParaRPr lang="en-US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 l="1334" r="7508" b="5917"/>
          <a:stretch>
            <a:fillRect/>
          </a:stretch>
        </p:blipFill>
        <p:spPr>
          <a:xfrm>
            <a:off x="1775460" y="1295400"/>
            <a:ext cx="8242300" cy="265557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rcRect l="955" r="1313" b="3822"/>
          <a:stretch>
            <a:fillRect/>
          </a:stretch>
        </p:blipFill>
        <p:spPr>
          <a:xfrm>
            <a:off x="1775460" y="3872230"/>
            <a:ext cx="8242300" cy="297243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313055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SCOPE</a:t>
            </a:r>
            <a:endParaRPr lang="en-IN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550" y="1780540"/>
            <a:ext cx="1131824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Integrate multilingual language translation for wider accessibility and communication.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Add voice input and voice-based AI assistance for patients.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Integrate doctors into the platform for professional healthcare consultation.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Enable online doctor appointment booking based on patient requirements.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Introduce real-time health monitoring through wearable and IoT devices.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Enhance AI agents using advanced medical knowledge and personalized analytics.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590550" y="313055"/>
            <a:ext cx="1160145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alt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IN" alt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Freeform 18"/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/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/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550" y="1780540"/>
            <a:ext cx="1131824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Proposes an intelligent Multi-Agent AI healthcare decision support platform.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Detects medication conflicts and medication–diet interaction risks accurately.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Uses RAG and Gemini for reliable personalized healthcare recommendations.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Generates comprehensive healthcare reports through Generative AI technology.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Supports doctors with faster and informed clinical decision making.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Improves patient safety and overall treatment effectiveness significantly.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51860" y="2470150"/>
            <a:ext cx="5720080" cy="1320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5400">
                <a:latin typeface="Times New Roman" panose="02020603050405020304" charset="0"/>
                <a:cs typeface="Times New Roman" panose="02020603050405020304" charset="0"/>
              </a:rPr>
              <a:t>THANK YOU..!</a:t>
            </a:r>
            <a:endParaRPr lang="en-IN" altLang="en-US" sz="5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6148</Words>
  <Application>WPS Presentation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Wingdings</vt:lpstr>
      <vt:lpstr>Times New Roman</vt:lpstr>
      <vt:lpstr>Times New Roman</vt:lpstr>
      <vt:lpstr>Merriweather</vt:lpstr>
      <vt:lpstr>Segoe Print</vt:lpstr>
      <vt:lpstr>Calibri</vt:lpstr>
      <vt:lpstr>Microsoft YaHei</vt:lpstr>
      <vt:lpstr>Arial Unicode MS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gouth</dc:creator>
  <cp:lastModifiedBy>Natukula Goutham</cp:lastModifiedBy>
  <cp:revision>59</cp:revision>
  <dcterms:created xsi:type="dcterms:W3CDTF">2026-07-31T07:02:00Z</dcterms:created>
  <dcterms:modified xsi:type="dcterms:W3CDTF">2026-08-26T02:52:01Z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0EEA5BE4EE9042DDA195B420F0A5F47F_11</vt:lpwstr>
  </property>
</Properties>
</file>